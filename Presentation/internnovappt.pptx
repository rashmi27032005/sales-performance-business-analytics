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417320"/>
            <a:ext cx="107899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"/>
              </a:rPr>
              <a:t>Sales Performance &amp; Business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42316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700" b="0">
                <a:solidFill>
                  <a:srgbClr val="DCE6F0"/>
                </a:solidFill>
                <a:latin typeface="Aptos"/>
              </a:rPr>
              <a:t>InternNova Data Analytics Internship — Week 6 Final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1">
                <a:solidFill>
                  <a:srgbClr val="FFFFFF"/>
                </a:solidFill>
                <a:latin typeface="Aptos"/>
              </a:rPr>
              <a:t>Rashmi Bhandari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749039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200" b="0">
                <a:solidFill>
                  <a:srgbClr val="DCE6F0"/>
                </a:solidFill>
                <a:latin typeface="Aptos"/>
              </a:rPr>
              <a:t>github.com/Rashmi27032005/Sales-Performance-Business-Analytics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1. Project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Aptos"/>
              </a:rPr>
              <a:t>Turning raw sales transactions into business insights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800">
                <a:solidFill>
                  <a:srgbClr val="5A646E"/>
                </a:solidFill>
                <a:latin typeface="Aptos"/>
              </a:defRPr>
            </a:pPr>
            <a:r>
              <a:t>• Analyze sales performance across time, regions, categories, and sub-categories.</a:t>
            </a:r>
          </a:p>
          <a:p>
            <a:pPr>
              <a:spcAft>
                <a:spcPts val="900"/>
              </a:spcAft>
              <a:defRPr sz="1800">
                <a:solidFill>
                  <a:srgbClr val="5A646E"/>
                </a:solidFill>
                <a:latin typeface="Aptos"/>
              </a:defRPr>
            </a:pPr>
            <a:r>
              <a:t>• Prepare and validate the dataset for reliable analysis.</a:t>
            </a:r>
          </a:p>
          <a:p>
            <a:pPr>
              <a:spcAft>
                <a:spcPts val="900"/>
              </a:spcAft>
              <a:defRPr sz="1800">
                <a:solidFill>
                  <a:srgbClr val="5A646E"/>
                </a:solidFill>
                <a:latin typeface="Aptos"/>
              </a:defRPr>
            </a:pPr>
            <a:r>
              <a:t>• Perform exploratory data analysis, correlation analysis, and outlier detection.</a:t>
            </a:r>
          </a:p>
          <a:p>
            <a:pPr>
              <a:spcAft>
                <a:spcPts val="900"/>
              </a:spcAft>
              <a:defRPr sz="1800">
                <a:solidFill>
                  <a:srgbClr val="5A646E"/>
                </a:solidFill>
                <a:latin typeface="Aptos"/>
              </a:defRPr>
            </a:pPr>
            <a:r>
              <a:t>• Create meaningful visualizations and a Power BI business dashboard.</a:t>
            </a:r>
          </a:p>
          <a:p>
            <a:pPr>
              <a:spcAft>
                <a:spcPts val="900"/>
              </a:spcAft>
              <a:defRPr sz="1800">
                <a:solidFill>
                  <a:srgbClr val="5A646E"/>
                </a:solidFill>
                <a:latin typeface="Aptos"/>
              </a:defRPr>
            </a:pPr>
            <a:r>
              <a:t>• Convert findings into practical recommendations for improving sales and profitability.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2. Dataset &amp;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Aptos"/>
              </a:rPr>
              <a:t>Public Superstore sales dataset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234440"/>
            <a:ext cx="2514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19" y="1389888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ORIGINAL 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17373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2D69AA"/>
                </a:solidFill>
                <a:latin typeface="Aptos"/>
              </a:rPr>
              <a:t>9,994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34440"/>
            <a:ext cx="2514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1389888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ORIGINAL COLUMNS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7373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2D69AA"/>
                </a:solidFill>
                <a:latin typeface="Aptos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35040" y="1234440"/>
            <a:ext cx="2514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26479" y="1389888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MISSING VALUES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17373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78255"/>
                </a:solidFill>
                <a:latin typeface="Aptos"/>
              </a:rPr>
              <a:t>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32520" y="1234440"/>
            <a:ext cx="2514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823960" y="1389888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DUPLICATES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23960" y="17373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78255"/>
                </a:solidFill>
                <a:latin typeface="Aptos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283464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5A646E"/>
                </a:solidFill>
                <a:latin typeface="Aptos"/>
              </a:defRPr>
            </a:pPr>
            <a:r>
              <a:t>• Converted Order Date and Ship Date to datetime format.</a:t>
            </a:r>
          </a:p>
          <a:p>
            <a:pPr>
              <a:spcAft>
                <a:spcPts val="900"/>
              </a:spcAft>
              <a:defRPr sz="1700">
                <a:solidFill>
                  <a:srgbClr val="5A646E"/>
                </a:solidFill>
                <a:latin typeface="Aptos"/>
              </a:defRPr>
            </a:pPr>
            <a:r>
              <a:t>• Validated Sales, Quantity, and Discount values.</a:t>
            </a:r>
          </a:p>
          <a:p>
            <a:pPr>
              <a:spcAft>
                <a:spcPts val="900"/>
              </a:spcAft>
              <a:defRPr sz="1700">
                <a:solidFill>
                  <a:srgbClr val="5A646E"/>
                </a:solidFill>
                <a:latin typeface="Aptos"/>
              </a:defRPr>
            </a:pPr>
            <a:r>
              <a:t>• Removed the unnecessary Row ID field.</a:t>
            </a:r>
          </a:p>
          <a:p>
            <a:pPr>
              <a:spcAft>
                <a:spcPts val="900"/>
              </a:spcAft>
              <a:defRPr sz="1700">
                <a:solidFill>
                  <a:srgbClr val="5A646E"/>
                </a:solidFill>
                <a:latin typeface="Aptos"/>
              </a:defRPr>
            </a:pPr>
            <a:r>
              <a:t>• Final cleaned dataset: 9,994 rows × 20 columns.</a:t>
            </a:r>
          </a:p>
          <a:p>
            <a:pPr>
              <a:spcAft>
                <a:spcPts val="900"/>
              </a:spcAft>
              <a:defRPr sz="1700">
                <a:solidFill>
                  <a:srgbClr val="5A646E"/>
                </a:solidFill>
                <a:latin typeface="Aptos"/>
              </a:defRPr>
            </a:pPr>
            <a:r>
              <a:t>• Saved cleaned data as Superstore_Sales_Cleaned.csv.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3. 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Aptos"/>
              </a:rPr>
              <a:t>Overall performance and key analytical findings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2514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89888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TOTAL SALES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7373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2D69AA"/>
                </a:solidFill>
                <a:latin typeface="Aptos"/>
              </a:rPr>
              <a:t>$2.30M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234440"/>
            <a:ext cx="2514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429000" y="1389888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TOTAL PROFIT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29000" y="17373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78255"/>
                </a:solidFill>
                <a:latin typeface="Aptos"/>
              </a:rPr>
              <a:t>$286.40K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080760" y="1234440"/>
            <a:ext cx="2514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172200" y="1389888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TOTAL QUANTITY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200" y="17373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2D69AA"/>
                </a:solidFill>
                <a:latin typeface="Aptos"/>
              </a:rPr>
              <a:t>37,873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234440"/>
            <a:ext cx="2514600" cy="114300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8915400" y="1389888"/>
            <a:ext cx="23317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PROFIT MARGIN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15400" y="1737360"/>
            <a:ext cx="2331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78255"/>
                </a:solidFill>
                <a:latin typeface="Aptos"/>
              </a:rPr>
              <a:t>12.47%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880360"/>
            <a:ext cx="1051560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700">
                <a:solidFill>
                  <a:srgbClr val="5A646E"/>
                </a:solidFill>
                <a:latin typeface="Aptos"/>
              </a:defRPr>
            </a:pPr>
            <a:r>
              <a:t>• West is the highest-sales region: $725,457.82.</a:t>
            </a:r>
          </a:p>
          <a:p>
            <a:pPr>
              <a:spcAft>
                <a:spcPts val="900"/>
              </a:spcAft>
              <a:defRPr sz="1700">
                <a:solidFill>
                  <a:srgbClr val="5A646E"/>
                </a:solidFill>
                <a:latin typeface="Aptos"/>
              </a:defRPr>
            </a:pPr>
            <a:r>
              <a:t>• South is the lowest-sales region: $391,721.91.</a:t>
            </a:r>
          </a:p>
          <a:p>
            <a:pPr>
              <a:spcAft>
                <a:spcPts val="900"/>
              </a:spcAft>
              <a:defRPr sz="1700">
                <a:solidFill>
                  <a:srgbClr val="5A646E"/>
                </a:solidFill>
                <a:latin typeface="Aptos"/>
              </a:defRPr>
            </a:pPr>
            <a:r>
              <a:t>• Technology is the highest-sales category: $836,154.03.</a:t>
            </a:r>
          </a:p>
          <a:p>
            <a:pPr>
              <a:spcAft>
                <a:spcPts val="900"/>
              </a:spcAft>
              <a:defRPr sz="1700">
                <a:solidFill>
                  <a:srgbClr val="5A646E"/>
                </a:solidFill>
                <a:latin typeface="Aptos"/>
              </a:defRPr>
            </a:pPr>
            <a:r>
              <a:t>• Tables is the largest loss-making sub-category: -$17,725.48.</a:t>
            </a:r>
          </a:p>
          <a:p>
            <a:pPr>
              <a:spcAft>
                <a:spcPts val="900"/>
              </a:spcAft>
              <a:defRPr sz="1700">
                <a:solidFill>
                  <a:srgbClr val="5A646E"/>
                </a:solidFill>
                <a:latin typeface="Aptos"/>
              </a:defRPr>
            </a:pPr>
            <a:r>
              <a:t>• 1,871 transactions were loss-making, totaling approximately -$156,131.29.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32658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4. Visualization &amp; Trend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Aptos"/>
              </a:rPr>
              <a:t>Python visualizations created with Matplotlib and Seaborn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25880"/>
            <a:ext cx="5486400" cy="2350008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77240" y="14447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92D4B"/>
                </a:solidFill>
                <a:latin typeface="Aptos"/>
              </a:rPr>
              <a:t>Monthly Sales Trend</a:t>
            </a:r>
          </a:p>
        </p:txBody>
      </p:sp>
      <p:sp>
        <p:nvSpPr>
          <p:cNvPr id="7" name="Rectangle 6"/>
          <p:cNvSpPr/>
          <p:nvPr/>
        </p:nvSpPr>
        <p:spPr>
          <a:xfrm>
            <a:off x="6126480" y="1325880"/>
            <a:ext cx="5303520" cy="2350008"/>
          </a:xfrm>
          <a:prstGeom prst="rect">
            <a:avLst/>
          </a:prstGeom>
          <a:solidFill>
            <a:srgbClr val="FFFFFF"/>
          </a:solidFill>
          <a:ln>
            <a:solidFill>
              <a:srgbClr val="D7DC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355080" y="1444752"/>
            <a:ext cx="50292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400" b="1">
                <a:solidFill>
                  <a:srgbClr val="192D4B"/>
                </a:solidFill>
                <a:latin typeface="Aptos"/>
              </a:rPr>
              <a:t>Sales by Region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48840"/>
            <a:ext cx="4663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5A646E"/>
                </a:solidFill>
                <a:latin typeface="Aptos"/>
              </a:rPr>
              <a:t>Sales increase overall toward 2017, with a peak in Nov 2017.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05740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  <a:latin typeface="Aptos"/>
              </a:rPr>
              <a:t>West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37960" y="246888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  <a:latin typeface="Aptos"/>
              </a:rPr>
              <a:t>East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37960" y="288036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  <a:latin typeface="Aptos"/>
              </a:rPr>
              <a:t>Central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37960" y="3291840"/>
            <a:ext cx="64008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100" b="0">
                <a:solidFill>
                  <a:srgbClr val="5A646E"/>
                </a:solidFill>
                <a:latin typeface="Aptos"/>
              </a:rPr>
              <a:t>South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0" y="2084831"/>
            <a:ext cx="3200400" cy="20116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315200" y="2496312"/>
            <a:ext cx="2743200" cy="20116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7315200" y="2907792"/>
            <a:ext cx="2011680" cy="20116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315200" y="3319272"/>
            <a:ext cx="1554480" cy="201168"/>
          </a:xfrm>
          <a:prstGeom prst="rect">
            <a:avLst/>
          </a:prstGeom>
          <a:solidFill>
            <a:srgbClr val="2D6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ounded Rectangle 17"/>
          <p:cNvSpPr/>
          <p:nvPr/>
        </p:nvSpPr>
        <p:spPr>
          <a:xfrm>
            <a:off x="731520" y="3886200"/>
            <a:ext cx="33832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" y="404164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SALES BY CATEGORY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389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2D69AA"/>
                </a:solidFill>
                <a:latin typeface="Aptos"/>
              </a:rPr>
              <a:t>Technology leads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3886200"/>
            <a:ext cx="33832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4480559" y="404164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TOP MONTH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80559" y="4389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DC8232"/>
                </a:solidFill>
                <a:latin typeface="Aptos"/>
              </a:rPr>
              <a:t>Nov 2017 — $118.45K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046720" y="3886200"/>
            <a:ext cx="3383280" cy="1325880"/>
          </a:xfrm>
          <a:prstGeom prst="roundRect">
            <a:avLst/>
          </a:prstGeom>
          <a:solidFill>
            <a:srgbClr val="F2F6FA"/>
          </a:solidFill>
          <a:ln>
            <a:solidFill>
              <a:srgbClr val="DC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8138160" y="4041648"/>
            <a:ext cx="320040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b="1">
                <a:solidFill>
                  <a:srgbClr val="5A646E"/>
                </a:solidFill>
                <a:latin typeface="Aptos"/>
              </a:rPr>
              <a:t>CORRELATION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38160" y="4389120"/>
            <a:ext cx="3200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300" b="1">
                <a:solidFill>
                  <a:srgbClr val="378255"/>
                </a:solidFill>
                <a:latin typeface="Aptos"/>
              </a:rPr>
              <a:t>Sales–Profit: 0.479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71500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5A646E"/>
                </a:solidFill>
                <a:latin typeface="Aptos"/>
              </a:rPr>
              <a:t>Five chart files are stored in the Visualizations folder.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5. Power BI Dashboard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C1F545E-C4F7-1987-A5F2-A7DA636F1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957943"/>
            <a:ext cx="10596583" cy="5410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700" b="1">
                <a:solidFill>
                  <a:srgbClr val="192D4B"/>
                </a:solidFill>
                <a:latin typeface="Aptos"/>
              </a:rPr>
              <a:t>6. Key Insights &amp; 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68680"/>
            <a:ext cx="10972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200" b="0">
                <a:solidFill>
                  <a:srgbClr val="5A646E"/>
                </a:solidFill>
                <a:latin typeface="Aptos"/>
              </a:rPr>
              <a:t>Turning analysis into business action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2D4B"/>
                </a:solidFill>
                <a:latin typeface="Aptos"/>
              </a:rPr>
              <a:t>KEY INSIGHTS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7373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5A646E"/>
                </a:solidFill>
                <a:latin typeface="Aptos"/>
              </a:defRPr>
            </a:pPr>
            <a:r>
              <a:t>• West leads regional sales.</a:t>
            </a:r>
          </a:p>
          <a:p>
            <a:pPr>
              <a:spcAft>
                <a:spcPts val="900"/>
              </a:spcAft>
              <a:defRPr sz="1600">
                <a:solidFill>
                  <a:srgbClr val="5A646E"/>
                </a:solidFill>
                <a:latin typeface="Aptos"/>
              </a:defRPr>
            </a:pPr>
            <a:r>
              <a:t>• South has the lowest regional sales.</a:t>
            </a:r>
          </a:p>
          <a:p>
            <a:pPr>
              <a:spcAft>
                <a:spcPts val="900"/>
              </a:spcAft>
              <a:defRPr sz="1600">
                <a:solidFill>
                  <a:srgbClr val="5A646E"/>
                </a:solidFill>
                <a:latin typeface="Aptos"/>
              </a:defRPr>
            </a:pPr>
            <a:r>
              <a:t>• Technology leads sales and profit.</a:t>
            </a:r>
          </a:p>
          <a:p>
            <a:pPr>
              <a:spcAft>
                <a:spcPts val="900"/>
              </a:spcAft>
              <a:defRPr sz="1600">
                <a:solidFill>
                  <a:srgbClr val="5A646E"/>
                </a:solidFill>
                <a:latin typeface="Aptos"/>
              </a:defRPr>
            </a:pPr>
            <a:r>
              <a:t>• Furniture has high sales but relatively low profit.</a:t>
            </a:r>
          </a:p>
          <a:p>
            <a:pPr>
              <a:spcAft>
                <a:spcPts val="900"/>
              </a:spcAft>
              <a:defRPr sz="1600">
                <a:solidFill>
                  <a:srgbClr val="5A646E"/>
                </a:solidFill>
                <a:latin typeface="Aptos"/>
              </a:defRPr>
            </a:pPr>
            <a:r>
              <a:t>• Tables is the largest loss-making sub-category.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234440"/>
            <a:ext cx="5029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800" b="1">
                <a:solidFill>
                  <a:srgbClr val="192D4B"/>
                </a:solidFill>
                <a:latin typeface="Aptos"/>
              </a:rPr>
              <a:t>RECOMMENDATIONS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737360"/>
            <a:ext cx="49377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  <a:defRPr sz="1600">
                <a:solidFill>
                  <a:srgbClr val="5A646E"/>
                </a:solidFill>
                <a:latin typeface="Aptos"/>
              </a:defRPr>
            </a:pPr>
            <a:r>
              <a:t>• Use targeted marketing to improve South-region performance.</a:t>
            </a:r>
          </a:p>
          <a:p>
            <a:pPr>
              <a:spcAft>
                <a:spcPts val="900"/>
              </a:spcAft>
              <a:defRPr sz="1600">
                <a:solidFill>
                  <a:srgbClr val="5A646E"/>
                </a:solidFill>
                <a:latin typeface="Aptos"/>
              </a:defRPr>
            </a:pPr>
            <a:r>
              <a:t>• Review Furniture pricing, discounts, and costs.</a:t>
            </a:r>
          </a:p>
          <a:p>
            <a:pPr>
              <a:spcAft>
                <a:spcPts val="900"/>
              </a:spcAft>
              <a:defRPr sz="1600">
                <a:solidFill>
                  <a:srgbClr val="5A646E"/>
                </a:solidFill>
                <a:latin typeface="Aptos"/>
              </a:defRPr>
            </a:pPr>
            <a:r>
              <a:t>• Reduce recurring losses in Tables.</a:t>
            </a:r>
          </a:p>
          <a:p>
            <a:pPr>
              <a:spcAft>
                <a:spcPts val="900"/>
              </a:spcAft>
              <a:defRPr sz="1600">
                <a:solidFill>
                  <a:srgbClr val="5A646E"/>
                </a:solidFill>
                <a:latin typeface="Aptos"/>
              </a:defRPr>
            </a:pPr>
            <a:r>
              <a:t>• Focus on profitable Technology products.</a:t>
            </a:r>
          </a:p>
          <a:p>
            <a:pPr>
              <a:spcAft>
                <a:spcPts val="900"/>
              </a:spcAft>
              <a:defRPr sz="1600">
                <a:solidFill>
                  <a:srgbClr val="5A646E"/>
                </a:solidFill>
                <a:latin typeface="Aptos"/>
              </a:defRPr>
            </a:pPr>
            <a:r>
              <a:t>• Monitor discount impact on profitability.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9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91440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94698" y="1965960"/>
            <a:ext cx="10572125" cy="73866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100" b="0" dirty="0">
                <a:solidFill>
                  <a:srgbClr val="FFFFFF"/>
                </a:solidFill>
                <a:latin typeface="Aptos"/>
              </a:rPr>
              <a:t>The project demonstrates an end-to-end data analytics workflow — from data preparation </a:t>
            </a:r>
            <a:endParaRPr lang="en-IN" sz="2100" b="0" dirty="0">
              <a:solidFill>
                <a:srgbClr val="FFFFFF"/>
              </a:solidFill>
              <a:latin typeface="Aptos"/>
            </a:endParaRPr>
          </a:p>
          <a:p>
            <a:pPr algn="ctr"/>
            <a:r>
              <a:rPr sz="2100" b="0" dirty="0">
                <a:solidFill>
                  <a:srgbClr val="FFFFFF"/>
                </a:solidFill>
                <a:latin typeface="Aptos"/>
              </a:rPr>
              <a:t>and EDA to visualization, Power BI reporting, and business recommendations.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03320"/>
            <a:ext cx="103327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500" b="0">
                <a:solidFill>
                  <a:srgbClr val="DCE6F0"/>
                </a:solidFill>
                <a:latin typeface="Aptos"/>
              </a:rPr>
              <a:t>Python  •  Pandas  •  NumPy  •  Matplotlib  •  Seaborn  •  Power BI  •  DAX  •  Git  •  GitHub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54880"/>
            <a:ext cx="10332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300" b="0">
                <a:solidFill>
                  <a:srgbClr val="DCE6F0"/>
                </a:solidFill>
                <a:latin typeface="Aptos"/>
              </a:rPr>
              <a:t>github.com/Rashmi27032005/Sales-Performance-Business-Analytics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459</Words>
  <Application>Microsoft Office PowerPoint</Application>
  <PresentationFormat>Widescreen</PresentationFormat>
  <Paragraphs>77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RASHMI BHANDARI</dc:creator>
  <cp:keywords/>
  <dc:description>generated using python-pptx</dc:description>
  <cp:lastModifiedBy>917619323861</cp:lastModifiedBy>
  <cp:revision>2</cp:revision>
  <dcterms:created xsi:type="dcterms:W3CDTF">2013-01-27T09:14:16Z</dcterms:created>
  <dcterms:modified xsi:type="dcterms:W3CDTF">2026-09-10T11:44:27Z</dcterms:modified>
  <cp:category/>
</cp:coreProperties>
</file>